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29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85FA5">
              <a:alpha val="40000"/>
            </a:srgbClr>
          </a:solidFill>
          <a:ln w="12700">
            <a:solidFill>
              <a:srgbClr val="185F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185FA5">
              <a:alpha val="30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CloudReady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Cloud Readiness Assessment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97280" cy="45720"/>
          </a:xfrm>
          <a:prstGeom prst="rect">
            <a:avLst/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1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client conversations into professional Azure migration reports — in minutes.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Mahmoud Gamal  ·  Cloud &amp; DevOps Engineer  ·  KlayyTech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F06097-03AC-1D74-0F96-814ED980F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174" y="5029200"/>
            <a:ext cx="807766" cy="143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CloudReady — the manual 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123444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44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engineers spend 3–5 hours assessing each client before recommending any Azure services.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64008" cy="123444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44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10912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10912" y="2011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produces different outputs — no standard format, no scoring, no clear next steps.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64008" cy="123444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sales cycle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3429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wait days for a proposal. Competitors move faster. Opportunities are lost.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64008" cy="123444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10912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baseline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0912" y="3429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feel subjective. Hard to justify Azure investment without a structured assessment.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CloudReady — 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AI-powered assessment that replaces hours of manual 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463040" cy="3291840"/>
          </a:xfrm>
          <a:prstGeom prst="rect">
            <a:avLst/>
          </a:prstGeom>
          <a:solidFill>
            <a:srgbClr val="E6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353312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creates invitation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generate a secure client link with name, email &amp; industry.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1536192"/>
            <a:ext cx="182880" cy="457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188720"/>
            <a:ext cx="1463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06040" y="1353312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answers 21 questions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26517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security, team readiness, budget — takes 5 minutes.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11880" y="1536192"/>
            <a:ext cx="182880" cy="457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0" y="1188720"/>
            <a:ext cx="1463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43400" y="1353312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26517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scores across 3 dimensions with conditional penalties.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1536192"/>
            <a:ext cx="182880" cy="457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1188720"/>
            <a:ext cx="1463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1353312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26517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(GPT-4o) explains the findings — it does not make the decisions.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86600" y="1536192"/>
            <a:ext cx="182880" cy="457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0" y="1188720"/>
            <a:ext cx="1463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18120" y="1353312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18120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delivered by email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06640" y="26517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receives a professional branded report as an attachment instantly.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from invitation to PDF: under 2 minutes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Portals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— different experiences for sales team and clients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Admin Portal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Microsoft Sign-In (Entra ID)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2084832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029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client assessments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404872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350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readiness scores &amp; levels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724912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full detailed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044952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download PDF reports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364992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report to client via email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" y="3685032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client invitations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4005072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950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invitation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1430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12161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Secure invitation link — no account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08483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2029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unique link from email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240487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66360" y="2350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21-question assessment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272491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636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their own report only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304495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score + recommendations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36499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PDF by email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68503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66360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expires after 14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400507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66360" y="3950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use per assessment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No client ever sees another client's data — each link is cryptographically unique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— Admin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detail for the sales conversation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06070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size, IT maturity level, and overall cloud posture summary.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06070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64608" y="1298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Readiness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across Infrastructure (40%), Security (35%), Team Readiness (25%) with AI confidence 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96596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02082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risks detected from answers — color coded green/red.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96596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202082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64608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 Assessment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2496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High/Medium/Low risks with business impact and recommended mitigation actions.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298094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9768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Azure 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matched to client's actual needs by a rule engine — with justification for each.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298094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Roadmap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migration plan with estimated timelines per phase.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88620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388620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9768" y="394106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9768" y="4178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&amp; ROI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range + cost of NOT migrating + expected overhead reduction.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06908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3886200"/>
            <a:ext cx="54864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64608" y="394106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64608" y="4178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list — first step always highlighted as the most critical.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— Client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— focused on business value, not technical detail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97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664208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60934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+ level (Beginner / Developing / Advanced)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2093976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0391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in plain language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523744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what's good, what's risky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953512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8986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Azure services with clear outcomes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383280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3284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813048"/>
            <a:ext cx="100584" cy="10058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7581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call-to-action: 'Talk to a cloud expert'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4114800" cy="38404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197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— not visible to client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1664208"/>
            <a:ext cx="100584" cy="100584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scoring breakdown per dimension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093976"/>
            <a:ext cx="100584" cy="100584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2039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matrix with mitigations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523744"/>
            <a:ext cx="100584" cy="100584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mapping &amp; service justification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2953512"/>
            <a:ext cx="100584" cy="100584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10912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roadmap with phase details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383280"/>
            <a:ext cx="100584" cy="100584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3328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cost breakdown &amp; ROI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3813048"/>
            <a:ext cx="100584" cy="100584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10912" y="3758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clients' data — completely isolated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only ever accesses their own report via their unique secure link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branded, printable consulting deliverable — not just a screen export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08760" cy="36576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0876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91440" cy="914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KlayyTech logo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91440" cy="914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company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91440" cy="914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4963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badge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91440" cy="914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0266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 + date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91440" cy="914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5570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tag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1005840"/>
            <a:ext cx="1508760" cy="36576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1005840"/>
            <a:ext cx="1508760" cy="34747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57400" y="10332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57400" y="11887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Score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03120" y="1481328"/>
            <a:ext cx="91440" cy="9144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40280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2011680"/>
            <a:ext cx="91440" cy="9144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4028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level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2542032"/>
            <a:ext cx="91440" cy="9144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40280" y="24963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+ cost pills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3072384"/>
            <a:ext cx="91440" cy="9144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40280" y="30266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 bars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3602736"/>
            <a:ext cx="91440" cy="9144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40280" y="35570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1005840"/>
            <a:ext cx="1508760" cy="36576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49040" y="1005840"/>
            <a:ext cx="1508760" cy="347472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94760" y="10332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794760" y="11887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+ Risks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0" y="1481328"/>
            <a:ext cx="91440" cy="91440"/>
          </a:xfrm>
          <a:prstGeom prst="ellipse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77640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(green/red)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40480" y="2011680"/>
            <a:ext cx="91440" cy="91440"/>
          </a:xfrm>
          <a:prstGeom prst="ellipse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7764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High/Medium/Low risks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0" y="2542032"/>
            <a:ext cx="91440" cy="91440"/>
          </a:xfrm>
          <a:prstGeom prst="ellipse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77640" y="24963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per risk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0" y="3072384"/>
            <a:ext cx="91440" cy="91440"/>
          </a:xfrm>
          <a:prstGeom prst="ellipse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977640" y="30266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per risk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0" y="1005840"/>
            <a:ext cx="1508760" cy="36576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86400" y="1005840"/>
            <a:ext cx="1508760" cy="347472"/>
          </a:xfrm>
          <a:prstGeom prst="rect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32120" y="10332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32120" y="11887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 Roadmap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77840" y="1481328"/>
            <a:ext cx="91440" cy="91440"/>
          </a:xfrm>
          <a:prstGeom prst="ellipse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715000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cards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0" y="2011680"/>
            <a:ext cx="91440" cy="91440"/>
          </a:xfrm>
          <a:prstGeom prst="ellipse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1500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per service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77840" y="2542032"/>
            <a:ext cx="91440" cy="91440"/>
          </a:xfrm>
          <a:prstGeom prst="ellipse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715000" y="24963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phases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77840" y="3072384"/>
            <a:ext cx="91440" cy="91440"/>
          </a:xfrm>
          <a:prstGeom prst="ellipse">
            <a:avLst/>
          </a:prstGeom>
          <a:solidFill>
            <a:srgbClr val="1D7A6B"/>
          </a:solidFill>
          <a:ln w="12700">
            <a:solidFill>
              <a:srgbClr val="1D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15000" y="30266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durations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23760" y="1005840"/>
            <a:ext cx="1508760" cy="36576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223760" y="1005840"/>
            <a:ext cx="150876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269480" y="10332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269480" y="11887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Next Steps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315200" y="1481328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452360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range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15200" y="2011680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45236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not migrating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15200" y="2542032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52360" y="24963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15200" y="3072384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52360" y="30266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next steps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15200" y="3602736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452360" y="35570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server-side  ·  Sent as email attachment  ·  Branded with KlayyTech identity  ·  CONFIDENTIAL footer on every page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CloudReady Helps Our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 on the pre-sales and sales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64008" cy="10972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client qualification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63677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takes 5 minutes. Report ready in under 2 minutes. Pre-sales meeting can happen the same 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64008" cy="1097280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recommendations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49240" y="163677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Azure service recommendation is backed by the client's actual answers — not guesswork.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64008" cy="10972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291693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gets the same structured, professional report regardless of which engineer runs the assessment.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64008" cy="10972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6060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first impression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9240" y="291693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delivered to the client's inbox positions KlayyTech as a serious cloud consulting partner.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64008" cy="109728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meeting preparation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419709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admin report gives the sales team everything they need before walking into the client meeting.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7947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64008" cy="109728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8862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49240" y="419709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has an isolated, time-limited link. No shared portals. No data leakage between clients.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85FA5">
              <a:alpha val="35000"/>
            </a:srgbClr>
          </a:solidFill>
          <a:ln w="12700">
            <a:solidFill>
              <a:srgbClr val="185FA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85FA5">
              <a:alpha val="25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Q&amp;A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201168" cy="201168"/>
          </a:xfrm>
          <a:prstGeom prst="ellipse">
            <a:avLst/>
          </a:prstGeom>
          <a:solidFill>
            <a:srgbClr val="B5D4F4">
              <a:alpha val="70000"/>
            </a:srgbClr>
          </a:solidFill>
          <a:ln w="12700">
            <a:solidFill>
              <a:srgbClr val="B5D4F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client invitation from the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201168" cy="201168"/>
          </a:xfrm>
          <a:prstGeom prst="ellipse">
            <a:avLst/>
          </a:prstGeom>
          <a:solidFill>
            <a:srgbClr val="B5D4F4">
              <a:alpha val="70000"/>
            </a:srgbClr>
          </a:solidFill>
          <a:ln w="12700">
            <a:solidFill>
              <a:srgbClr val="B5D4F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client link and fill the assessment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201168" cy="201168"/>
          </a:xfrm>
          <a:prstGeom prst="ellipse">
            <a:avLst/>
          </a:prstGeom>
          <a:solidFill>
            <a:srgbClr val="B5D4F4">
              <a:alpha val="70000"/>
            </a:srgbClr>
          </a:solidFill>
          <a:ln w="12700">
            <a:solidFill>
              <a:srgbClr val="B5D4F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9626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generated report as admin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201168" cy="201168"/>
          </a:xfrm>
          <a:prstGeom prst="ellipse">
            <a:avLst/>
          </a:prstGeom>
          <a:solidFill>
            <a:srgbClr val="B5D4F4">
              <a:alpha val="70000"/>
            </a:srgbClr>
          </a:solidFill>
          <a:ln w="12700">
            <a:solidFill>
              <a:srgbClr val="B5D4F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64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346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review the PDF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201168" cy="201168"/>
          </a:xfrm>
          <a:prstGeom prst="ellipse">
            <a:avLst/>
          </a:prstGeom>
          <a:solidFill>
            <a:srgbClr val="B5D4F4">
              <a:alpha val="70000"/>
            </a:srgbClr>
          </a:solidFill>
          <a:ln w="12700">
            <a:solidFill>
              <a:srgbClr val="B5D4F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report to a client email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gentle-field-0f601ca03.7.azurestaticapps.net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Office PowerPoint</Application>
  <PresentationFormat>On-screen Show (16:9)</PresentationFormat>
  <Paragraphs>178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KlayyTech CloudReady</dc:title>
  <dc:subject>PptxGenJS Presentation</dc:subject>
  <dc:creator>PptxGenJS</dc:creator>
  <cp:lastModifiedBy>Mahmoud Gamal</cp:lastModifiedBy>
  <cp:revision>2</cp:revision>
  <dcterms:created xsi:type="dcterms:W3CDTF">2026-05-24T06:43:51Z</dcterms:created>
  <dcterms:modified xsi:type="dcterms:W3CDTF">2026-05-24T11:53:47Z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4d67c31-0e4a-4334-bec4-bbb8d644c8ff_Enabled">
    <vt:lpwstr>true</vt:lpwstr>
  </property>
  <property fmtid="{D5CDD505-2E9C-101B-9397-08002B2CF9AE}" pid="3" name="MSIP_Label_54d67c31-0e4a-4334-bec4-bbb8d644c8ff_SetDate">
    <vt:lpwstr>2026-05-24T11:53:45Z</vt:lpwstr>
  </property>
  <property fmtid="{D5CDD505-2E9C-101B-9397-08002B2CF9AE}" pid="4" name="MSIP_Label_54d67c31-0e4a-4334-bec4-bbb8d644c8ff_Method">
    <vt:lpwstr>Standard</vt:lpwstr>
  </property>
  <property fmtid="{D5CDD505-2E9C-101B-9397-08002B2CF9AE}" pid="5" name="MSIP_Label_54d67c31-0e4a-4334-bec4-bbb8d644c8ff_Name">
    <vt:lpwstr>defa4170-0d19-0005-0004-bc88714345d2</vt:lpwstr>
  </property>
  <property fmtid="{D5CDD505-2E9C-101B-9397-08002B2CF9AE}" pid="6" name="MSIP_Label_54d67c31-0e4a-4334-bec4-bbb8d644c8ff_SiteId">
    <vt:lpwstr>e12a260c-947a-40e3-a826-aa800e3bcc10</vt:lpwstr>
  </property>
  <property fmtid="{D5CDD505-2E9C-101B-9397-08002B2CF9AE}" pid="7" name="MSIP_Label_54d67c31-0e4a-4334-bec4-bbb8d644c8ff_ActionId">
    <vt:lpwstr>13e2df47-0d5e-4cba-886a-748353b8fbaf</vt:lpwstr>
  </property>
  <property fmtid="{D5CDD505-2E9C-101B-9397-08002B2CF9AE}" pid="8" name="MSIP_Label_54d67c31-0e4a-4334-bec4-bbb8d644c8ff_ContentBits">
    <vt:lpwstr>0</vt:lpwstr>
  </property>
  <property fmtid="{D5CDD505-2E9C-101B-9397-08002B2CF9AE}" pid="9" name="MSIP_Label_54d67c31-0e4a-4334-bec4-bbb8d644c8ff_Tag">
    <vt:lpwstr>10, 3, 0, 1</vt:lpwstr>
  </property>
</Properties>
</file>